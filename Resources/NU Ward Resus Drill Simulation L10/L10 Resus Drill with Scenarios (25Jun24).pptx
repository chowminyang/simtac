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5" r:id="rId3"/>
    <p:sldMasterId id="2147483650" r:id="rId4"/>
    <p:sldMasterId id="2147483693" r:id="rId5"/>
  </p:sldMasterIdLst>
  <p:handoutMasterIdLst>
    <p:handoutMasterId r:id="rId20"/>
  </p:handoutMasterIdLst>
  <p:sldIdLst>
    <p:sldId id="256" r:id="rId6"/>
    <p:sldId id="257" r:id="rId7"/>
    <p:sldId id="290" r:id="rId8"/>
    <p:sldId id="262" r:id="rId9"/>
    <p:sldId id="286" r:id="rId10"/>
    <p:sldId id="277" r:id="rId11"/>
    <p:sldId id="289" r:id="rId12"/>
    <p:sldId id="283" r:id="rId13"/>
    <p:sldId id="280" r:id="rId14"/>
    <p:sldId id="269" r:id="rId15"/>
    <p:sldId id="270" r:id="rId16"/>
    <p:sldId id="279" r:id="rId17"/>
    <p:sldId id="285" r:id="rId18"/>
    <p:sldId id="288" r:id="rId19"/>
  </p:sldIdLst>
  <p:sldSz cx="9144000" cy="6858000" type="screen4x3"/>
  <p:notesSz cx="6858000" cy="9144000"/>
  <p:defaultTextStyle>
    <a:defPPr>
      <a:defRPr lang="en-SG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44" autoAdjust="0"/>
    <p:restoredTop sz="94660"/>
  </p:normalViewPr>
  <p:slideViewPr>
    <p:cSldViewPr>
      <p:cViewPr varScale="1">
        <p:scale>
          <a:sx n="121" d="100"/>
          <a:sy n="121" d="100"/>
        </p:scale>
        <p:origin x="35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slideMaster" Target="slideMasters/slideMaster1.xml"/><Relationship Id="rId21" Type="http://schemas.openxmlformats.org/officeDocument/2006/relationships/presProps" Target="pres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ableStyles" Target="tableStyles.xml"/><Relationship Id="rId5" Type="http://schemas.openxmlformats.org/officeDocument/2006/relationships/slideMaster" Target="slideMasters/slideMaster3.xml"/><Relationship Id="rId15" Type="http://schemas.openxmlformats.org/officeDocument/2006/relationships/slide" Target="slides/slide10.xml"/><Relationship Id="rId23" Type="http://schemas.openxmlformats.org/officeDocument/2006/relationships/theme" Target="theme/theme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08CB273C-DDF2-0EC6-E85A-927C58554F7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E6746659-EA5D-4180-0423-B6BBD413AE3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en-SG" alt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395BA551-8D49-8F5A-2218-1ADB656F2CD2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en-SG" alt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9AB54EB2-DC42-B561-575F-63BAF4BFE561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DE106D5B-565F-4097-A1EB-8DD7038677FB}" type="slidenum">
              <a:rPr lang="en-SG" altLang="en-US"/>
              <a:pPr/>
              <a:t>‹#›</a:t>
            </a:fld>
            <a:endParaRPr lang="en-SG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8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Without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D1CB43AD-F811-2503-5073-FECBCB831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6" descr="titlebar.png">
            <a:extLst>
              <a:ext uri="{FF2B5EF4-FFF2-40B4-BE49-F238E27FC236}">
                <a16:creationId xmlns:a16="http://schemas.microsoft.com/office/drawing/2014/main" id="{741ADA24-61F5-ADFF-1F10-E47EB60AF5E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916363"/>
            <a:ext cx="9144000" cy="2535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3830E2B8-797F-2B31-BBE6-65BD3F7C6892}"/>
              </a:ext>
            </a:extLst>
          </p:cNvPr>
          <p:cNvSpPr txBox="1">
            <a:spLocks/>
          </p:cNvSpPr>
          <p:nvPr userDrawn="1"/>
        </p:nvSpPr>
        <p:spPr bwMode="auto">
          <a:xfrm>
            <a:off x="450850" y="4281488"/>
            <a:ext cx="7886700" cy="1325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SG" altLang="en-US" sz="2800" b="1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pic>
        <p:nvPicPr>
          <p:cNvPr id="5" name="Picture 8">
            <a:extLst>
              <a:ext uri="{FF2B5EF4-FFF2-40B4-BE49-F238E27FC236}">
                <a16:creationId xmlns:a16="http://schemas.microsoft.com/office/drawing/2014/main" id="{4D24EE01-FB84-5DA1-90C4-EC416A635C5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390525"/>
            <a:ext cx="11652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3" descr="new logo">
            <a:extLst>
              <a:ext uri="{FF2B5EF4-FFF2-40B4-BE49-F238E27FC236}">
                <a16:creationId xmlns:a16="http://schemas.microsoft.com/office/drawing/2014/main" id="{46ABBFF3-1DB5-7010-084A-C178ACCA95A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725" y="404813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"/>
          <p:cNvSpPr>
            <a:spLocks noGrp="1"/>
          </p:cNvSpPr>
          <p:nvPr>
            <p:ph type="title"/>
          </p:nvPr>
        </p:nvSpPr>
        <p:spPr>
          <a:xfrm>
            <a:off x="273332" y="4246205"/>
            <a:ext cx="7886700" cy="549893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3200" b="1" kern="1200" spc="70" dirty="0">
                <a:solidFill>
                  <a:schemeClr val="bg2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21"/>
          <p:cNvSpPr>
            <a:spLocks noGrp="1"/>
          </p:cNvSpPr>
          <p:nvPr>
            <p:ph type="body" sz="quarter" idx="10"/>
          </p:nvPr>
        </p:nvSpPr>
        <p:spPr>
          <a:xfrm>
            <a:off x="273332" y="4830985"/>
            <a:ext cx="5372100" cy="485598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10821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with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8E6520-9B39-CE5D-3D32-E8CE25FD4C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2482" r="13701"/>
          <a:stretch>
            <a:fillRect/>
          </a:stretch>
        </p:blipFill>
        <p:spPr bwMode="auto">
          <a:xfrm>
            <a:off x="7129463" y="0"/>
            <a:ext cx="201453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5">
            <a:extLst>
              <a:ext uri="{FF2B5EF4-FFF2-40B4-BE49-F238E27FC236}">
                <a16:creationId xmlns:a16="http://schemas.microsoft.com/office/drawing/2014/main" id="{83DF6372-91B6-FC7D-9F08-3E2C625847E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79"/>
          <a:stretch>
            <a:fillRect/>
          </a:stretch>
        </p:blipFill>
        <p:spPr bwMode="auto">
          <a:xfrm>
            <a:off x="-11113" y="0"/>
            <a:ext cx="9155113" cy="686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5AF33B76-1B67-A9C3-0DDF-5C49EF8C09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28E626F0-C1AA-9D39-8CD0-692A6E4AE43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87375" y="681038"/>
            <a:ext cx="7886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SG" altLang="en-US" sz="2800" b="1">
              <a:solidFill>
                <a:srgbClr val="AB162B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04E662B6-EB83-E2D4-B995-1B3EA0D01A72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48238"/>
            <a:ext cx="9144000" cy="165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F3778D50-AEA9-F5B3-8C03-A0168302C97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088" y="425450"/>
            <a:ext cx="1181100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 descr="new logo">
            <a:extLst>
              <a:ext uri="{FF2B5EF4-FFF2-40B4-BE49-F238E27FC236}">
                <a16:creationId xmlns:a16="http://schemas.microsoft.com/office/drawing/2014/main" id="{5C78013F-C7BE-4464-03BA-8C6B76F3A6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88225" y="450850"/>
            <a:ext cx="1285875" cy="347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46882" y="5047844"/>
            <a:ext cx="5164138" cy="604837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46882" y="5652680"/>
            <a:ext cx="3865475" cy="49095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8D33D42-026C-4A7C-2DA1-9579D8E8C06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B434E06-CBB7-4B19-99B7-38878DAC9C5A}" type="datetimeFigureOut">
              <a:rPr lang="en-SG"/>
              <a:pPr>
                <a:defRPr/>
              </a:pPr>
              <a:t>13/08/2025</a:t>
            </a:fld>
            <a:endParaRPr lang="en-SG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D512570-1541-90D7-05E5-452F98F6A8C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3C5E172-2E8D-AC95-723D-CE00D23B627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C424485-8473-4CBA-9F70-537F6AC3E927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431116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age with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05293FB9-CCF4-F5C7-F750-325236F2F9D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2482" r="13701"/>
          <a:stretch>
            <a:fillRect/>
          </a:stretch>
        </p:blipFill>
        <p:spPr bwMode="auto">
          <a:xfrm>
            <a:off x="7129463" y="0"/>
            <a:ext cx="2014537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7">
            <a:extLst>
              <a:ext uri="{FF2B5EF4-FFF2-40B4-BE49-F238E27FC236}">
                <a16:creationId xmlns:a16="http://schemas.microsoft.com/office/drawing/2014/main" id="{421D8822-26A1-1358-8CCB-EECB029B2F8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48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7">
            <a:extLst>
              <a:ext uri="{FF2B5EF4-FFF2-40B4-BE49-F238E27FC236}">
                <a16:creationId xmlns:a16="http://schemas.microsoft.com/office/drawing/2014/main" id="{472EB3C4-AE76-EC23-000C-8BA051EA46C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B179A4EA-9F35-F2C4-6DFC-04E88AA762C0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69913" y="681038"/>
            <a:ext cx="7886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SG" altLang="en-US" sz="2800" b="1">
              <a:solidFill>
                <a:srgbClr val="AB162B"/>
              </a:solidFill>
              <a:latin typeface="Verdana" panose="020B0604030504040204" pitchFamily="34" charset="0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A9E3368D-D9BF-B9BA-4D1F-C23FDBDEB9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948238"/>
            <a:ext cx="9144000" cy="1652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" name="Picture 16">
            <a:extLst>
              <a:ext uri="{FF2B5EF4-FFF2-40B4-BE49-F238E27FC236}">
                <a16:creationId xmlns:a16="http://schemas.microsoft.com/office/drawing/2014/main" id="{22A4A197-5396-16E9-ED8D-81F543E29B7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663" y="390525"/>
            <a:ext cx="1165225" cy="379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13" descr="new logo">
            <a:extLst>
              <a:ext uri="{FF2B5EF4-FFF2-40B4-BE49-F238E27FC236}">
                <a16:creationId xmlns:a16="http://schemas.microsoft.com/office/drawing/2014/main" id="{221F948D-1C60-53BC-844A-AF6265589C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425" y="430213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446882" y="5047844"/>
            <a:ext cx="5164138" cy="604837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446882" y="5652680"/>
            <a:ext cx="3865475" cy="490952"/>
          </a:xfrm>
        </p:spPr>
        <p:txBody>
          <a:bodyPr>
            <a:normAutofit/>
          </a:bodyPr>
          <a:lstStyle>
            <a:lvl1pPr marL="0" indent="0">
              <a:buNone/>
              <a:defRPr sz="20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2805D164-C640-E58F-502E-EA1F27BBE43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C313DA-6EF4-46F7-B6F1-522B64ACD3A9}" type="datetimeFigureOut">
              <a:rPr lang="en-SG"/>
              <a:pPr>
                <a:defRPr/>
              </a:pPr>
              <a:t>13/08/2025</a:t>
            </a:fld>
            <a:endParaRPr lang="en-SG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87519C02-B694-1AF4-7783-2D33FE33CD1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E8137A86-43B8-3704-1E50-52A6C555D3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8DBEED6-6CCA-4468-94CC-C39B42D8D250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71568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114577CA-9E72-A630-F5BE-C284D616500B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EFEAE6"/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SG" dirty="0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7C170543-00A0-EE9F-4A54-2C980C36EC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6900" y="-22225"/>
            <a:ext cx="3467100" cy="3786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8">
            <a:extLst>
              <a:ext uri="{FF2B5EF4-FFF2-40B4-BE49-F238E27FC236}">
                <a16:creationId xmlns:a16="http://schemas.microsoft.com/office/drawing/2014/main" id="{B95ABE78-0B79-5FE2-C9FF-91B9FD6BD14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3" descr="new logo">
            <a:extLst>
              <a:ext uri="{FF2B5EF4-FFF2-40B4-BE49-F238E27FC236}">
                <a16:creationId xmlns:a16="http://schemas.microsoft.com/office/drawing/2014/main" id="{31A9E54E-4FC1-7C1E-EEA0-64A8D1BC3E4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6256338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4">
            <a:extLst>
              <a:ext uri="{FF2B5EF4-FFF2-40B4-BE49-F238E27FC236}">
                <a16:creationId xmlns:a16="http://schemas.microsoft.com/office/drawing/2014/main" id="{EC2F0999-7CC0-FE88-F165-DCE445D8DB3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39713" y="115888"/>
            <a:ext cx="1951037" cy="642937"/>
            <a:chOff x="151" y="73"/>
            <a:chExt cx="1229" cy="405"/>
          </a:xfrm>
        </p:grpSpPr>
        <p:pic>
          <p:nvPicPr>
            <p:cNvPr id="7" name="Picture 15" descr="Provider with Distinction Logo CMYK">
              <a:extLst>
                <a:ext uri="{FF2B5EF4-FFF2-40B4-BE49-F238E27FC236}">
                  <a16:creationId xmlns:a16="http://schemas.microsoft.com/office/drawing/2014/main" id="{3D7A6EB5-C07A-69BC-AB7D-7BF4C96C392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75" y="73"/>
              <a:ext cx="405" cy="4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" name="Picture 16" descr="NICHE">
              <a:extLst>
                <a:ext uri="{FF2B5EF4-FFF2-40B4-BE49-F238E27FC236}">
                  <a16:creationId xmlns:a16="http://schemas.microsoft.com/office/drawing/2014/main" id="{D58B8EA1-45A8-FEF1-E1CF-441E0B40453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1" y="130"/>
              <a:ext cx="726" cy="3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766763" y="2907198"/>
            <a:ext cx="4346751" cy="857250"/>
          </a:xfrm>
        </p:spPr>
        <p:txBody>
          <a:bodyPr anchor="b">
            <a:noAutofit/>
          </a:bodyPr>
          <a:lstStyle>
            <a:lvl1pPr marL="0" indent="0">
              <a:buNone/>
              <a:defRPr sz="32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4"/>
          </p:nvPr>
        </p:nvSpPr>
        <p:spPr>
          <a:xfrm>
            <a:off x="766764" y="3883556"/>
            <a:ext cx="4346575" cy="2587625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v"/>
              <a:defRPr sz="2000"/>
            </a:lvl1pPr>
            <a:lvl2pPr marL="685800" indent="-228600">
              <a:buFont typeface="Wingdings" panose="05000000000000000000" pitchFamily="2" charset="2"/>
              <a:buChar char="v"/>
              <a:defRPr sz="2000"/>
            </a:lvl2pPr>
            <a:lvl3pPr marL="1143000" indent="-228600">
              <a:buFont typeface="Wingdings" panose="05000000000000000000" pitchFamily="2" charset="2"/>
              <a:buChar char="v"/>
              <a:defRPr sz="2000"/>
            </a:lvl3pPr>
            <a:lvl4pPr marL="1600200" indent="-228600">
              <a:buFont typeface="Wingdings" panose="05000000000000000000" pitchFamily="2" charset="2"/>
              <a:buChar char="v"/>
              <a:defRPr sz="2000"/>
            </a:lvl4pPr>
            <a:lvl5pPr marL="2057400" indent="-228600">
              <a:buFont typeface="Wingdings" panose="05000000000000000000" pitchFamily="2" charset="2"/>
              <a:buChar char="v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E7A7DCDE-8946-7B68-18F2-80B3535FBBC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3519CA-51EF-4CFC-8B7C-3049F4B44BA8}" type="datetimeFigureOut">
              <a:rPr lang="en-SG"/>
              <a:pPr>
                <a:defRPr/>
              </a:pPr>
              <a:t>13/08/2025</a:t>
            </a:fld>
            <a:endParaRPr lang="en-SG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920D7106-031E-6138-4923-802376FAA5D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42E231F3-1FC9-9616-BEBB-B13C0AC06DC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D46126C1-1BEF-41D7-932D-7A79E8F3BD9B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15266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ag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9">
            <a:extLst>
              <a:ext uri="{FF2B5EF4-FFF2-40B4-BE49-F238E27FC236}">
                <a16:creationId xmlns:a16="http://schemas.microsoft.com/office/drawing/2014/main" id="{887D6255-F8A6-730E-A161-EEA82304D32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13" descr="new logo">
            <a:extLst>
              <a:ext uri="{FF2B5EF4-FFF2-40B4-BE49-F238E27FC236}">
                <a16:creationId xmlns:a16="http://schemas.microsoft.com/office/drawing/2014/main" id="{ABD4214C-63DF-C6FA-BE1F-9D7A305D4C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6256338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0710" y="662784"/>
            <a:ext cx="6522579" cy="646729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lang="en-US" sz="3200" b="1" kern="1200" spc="70" dirty="0">
                <a:solidFill>
                  <a:srgbClr val="AB162B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600076" y="1501775"/>
            <a:ext cx="7915275" cy="4537075"/>
          </a:xfrm>
        </p:spPr>
        <p:txBody>
          <a:bodyPr/>
          <a:lstStyle>
            <a:lvl1pPr>
              <a:spcAft>
                <a:spcPts val="0"/>
              </a:spcAft>
              <a:defRPr/>
            </a:lvl1pPr>
            <a:lvl2pPr>
              <a:spcAft>
                <a:spcPts val="0"/>
              </a:spcAft>
              <a:defRPr/>
            </a:lvl2pPr>
            <a:lvl3pPr>
              <a:spcAft>
                <a:spcPts val="0"/>
              </a:spcAft>
              <a:defRPr/>
            </a:lvl3pPr>
            <a:lvl4pPr>
              <a:spcAft>
                <a:spcPts val="0"/>
              </a:spcAft>
              <a:defRPr/>
            </a:lvl4pPr>
            <a:lvl5pPr>
              <a:spcAft>
                <a:spcPts val="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2A27103-1107-405C-556E-23EEEC74325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1CA7032-1227-48B8-A61F-8E432EC05847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E29FBFC-FDE1-87CE-7F7A-66CC4E524A1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8CB5AB0-F8B9-3E11-7D87-9ED1DBA14D0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42AE108A-A3BC-4B06-9114-876E7A505121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31013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5">
            <a:extLst>
              <a:ext uri="{FF2B5EF4-FFF2-40B4-BE49-F238E27FC236}">
                <a16:creationId xmlns:a16="http://schemas.microsoft.com/office/drawing/2014/main" id="{20F85B9D-DAA5-A0E9-428B-182E02AA3C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Rectangle 6">
            <a:extLst>
              <a:ext uri="{FF2B5EF4-FFF2-40B4-BE49-F238E27FC236}">
                <a16:creationId xmlns:a16="http://schemas.microsoft.com/office/drawing/2014/main" id="{4AE67995-71FC-DFF1-48D5-1EBC23D8D454}"/>
              </a:ext>
            </a:extLst>
          </p:cNvPr>
          <p:cNvSpPr/>
          <p:nvPr userDrawn="1"/>
        </p:nvSpPr>
        <p:spPr>
          <a:xfrm>
            <a:off x="0" y="2925763"/>
            <a:ext cx="9144000" cy="1143000"/>
          </a:xfrm>
          <a:prstGeom prst="rect">
            <a:avLst/>
          </a:prstGeom>
          <a:solidFill>
            <a:srgbClr val="FFFFFF">
              <a:alpha val="74902"/>
            </a:srgbClr>
          </a:solidFill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SG"/>
          </a:p>
        </p:txBody>
      </p:sp>
      <p:sp>
        <p:nvSpPr>
          <p:cNvPr id="4" name="TextBox 1">
            <a:extLst>
              <a:ext uri="{FF2B5EF4-FFF2-40B4-BE49-F238E27FC236}">
                <a16:creationId xmlns:a16="http://schemas.microsoft.com/office/drawing/2014/main" id="{AB1BF5A8-6B23-0DDF-4C83-E424648DE00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028950" y="3113088"/>
            <a:ext cx="310515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4400" b="1">
                <a:solidFill>
                  <a:schemeClr val="accent1"/>
                </a:solidFill>
                <a:latin typeface="Calibri" panose="020F0502020204030204" pitchFamily="34" charset="0"/>
              </a:rPr>
              <a:t>THANK YOU</a:t>
            </a:r>
            <a:endParaRPr lang="en-SG" altLang="en-US" sz="4400" b="1">
              <a:solidFill>
                <a:schemeClr val="accent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Date Placeholder 2">
            <a:extLst>
              <a:ext uri="{FF2B5EF4-FFF2-40B4-BE49-F238E27FC236}">
                <a16:creationId xmlns:a16="http://schemas.microsoft.com/office/drawing/2014/main" id="{97C158A6-DBD5-4D3B-A8CA-6EEB47B68B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1BA47A-B9F1-4DF5-B8C3-5DFE1DE67E92}" type="datetimeFigureOut">
              <a:rPr lang="en-SG"/>
              <a:pPr>
                <a:defRPr/>
              </a:pPr>
              <a:t>13/08/2025</a:t>
            </a:fld>
            <a:endParaRPr lang="en-SG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36BB475-5836-AFBE-20F3-8040EEA51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9BF140C3-CD35-A025-E892-C5E99E69C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E3B3AA-5350-495D-B6FC-5678FA458A3D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68482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F2739-A9BF-AFB3-C138-9B1EBFCA7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3FC02C-CE64-B1EE-EC0F-2294084A24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03A180-2106-F67E-3332-6320D8108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178B7D-9370-B68C-A5DE-6DEE09DB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D45997-00A7-15EC-EF76-E3A66164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F6E760D-BB1D-46E4-8FB3-5667AFB2729D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1675090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B6B3F-50A3-DCD2-0870-E09F78DF1E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238DE0-77C7-3326-E69D-E172A7CA5D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D52DA6-AE76-B30B-9B0F-57F5D6C30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C16807-6B90-838C-2A64-A63BBF9DA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8D75C-7A29-ECA2-4390-60C6D5169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6F338C-0B53-42DB-9FAF-34C752D41459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700565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DE1A3-FE30-6862-E73E-EB6C747045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A7A79-58D0-F123-4E68-3C79E49C9B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8C392-6383-1323-B1A1-B60AA1FA0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5A0BF2-D370-60ED-CF71-C4445BC19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342131-EBCC-8374-42A5-1D7F8F385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1FAB957-1CB2-458B-9A45-BB9E67BE40A4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228351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69B1C-3735-BA75-243A-F80161CC2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5580F-4B4F-27D6-F8F9-156C98BA3F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6ACEB5-1338-5579-CD6E-FCF9337AEB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B185A-18B0-8445-732C-B81AC982A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D71C8D-6537-F332-4F96-0752FE277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BBB68A-27BA-4A9A-A794-7A63D39BFF6F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9270160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0462B-8782-F429-CBC5-0A2E2FE36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D58E0-5A90-C847-4116-0D4337403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4363" y="1547813"/>
            <a:ext cx="3867150" cy="4592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19A60-47B0-A956-05C9-89282B0472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3913" y="1547813"/>
            <a:ext cx="3867150" cy="45926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F02919-46E6-D1C2-99F0-966ED98C0B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B2B63-1631-4865-C819-C8F473CAA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344BCF-B6FC-0573-E9FC-7E6EC84A0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28CBCC3-4318-4F57-A855-07863FE3202F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2433310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67885-4D37-9503-A67D-A1615489E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156DA8-F9DB-08A7-5E96-88188515EA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95F43-EF97-7C10-873E-CADB4143D1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29B570-E6F8-8457-7620-C98C2B0F6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C7F420-5AAC-522E-221E-FFDF3C8334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B38DC7-8C7F-3BF6-4D3E-F4F8E9BF3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AE65A8-4B64-1D26-0A48-3C9D74C8E0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99EB75-C2A3-C83A-BDC2-3F35D8F9D4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6CF311-069A-4436-A6B3-BC96C4D5CDC1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3465259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660A2-EE25-9AD3-22B0-8039DA6675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EC16879-F372-3C57-0302-410B31FB5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133C08-BFAD-AAB2-CA58-2318F5824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3D3D69-2738-E865-D2CA-0F9089CFA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42B9C2-9D40-4DF9-ADA1-C07FC78FBA4A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1249668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0A53A1-3CD9-844C-27A6-5A36E4E1B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D534274-9385-34A6-6D50-DFA99DA00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B657EA-0317-6BA6-A4A9-141803097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00ED25C-20F4-4303-9FFE-560DED78DD08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5227483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13E17C-7FCA-4B61-9C07-A3522A369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596A4F-B44D-B5CE-6B5F-DF0B59122A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AB62CD-6631-45C2-C0B7-6994C546E1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A5E32C-6F99-FA74-ED94-690D946CA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3188B-1AF1-DFDF-6E12-D4DDF7BFFA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46C506-2BC2-37BC-E3EA-FB1B370E2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0419E51-799A-4515-A7D5-A5A1FAF385E2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20894103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3D61C-265C-DEC2-E2AD-E4A1FF513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F9CB93-E149-9821-2BB0-9C83F9F12E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332C47-6142-85A1-AAE7-7FAA801D52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BF1FF3-B9A6-14D0-40AE-B94A90CB56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3D49FE-D1C1-E96D-5DCC-91102C563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FCBF80-6EEA-BAA2-B90A-2CA93AC08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CB6759-7640-4D49-8330-6CDC7AAD23E6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0155577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C2A278-FC6F-1CC4-6D49-04AE436EF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05A3CA-221C-C529-8D4B-93CA71FC9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C89D8C-EFB8-2ED6-FEFB-6E031911D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A2D70-5FAF-6C43-2696-C048156F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D60B2A-3BD4-A18B-D578-A533EF9AA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812C77-9DA3-4E02-80E6-5921481FF363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77568086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C2F86A-D0F0-3CD9-3BF7-B91AD2709F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0500" y="365125"/>
            <a:ext cx="1974850" cy="57753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283157-8CAC-B048-F6A0-D5F3D5E6C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4363" y="365125"/>
            <a:ext cx="5773737" cy="57753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519594-0CD8-6F89-EA4D-E9F73E7E4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8510AB-B311-8A00-E6E9-AFFF461B3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A617C-297F-B48F-2B4F-61BE09D6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7C0277-16AA-4B45-AE38-DD84183F76DC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927111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D74BCD-476E-F14D-93CA-8C0543AE1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C0C80-D530-4796-987F-C9F13D9C31E9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74F0F5-14B2-B87C-283D-2FFBF0308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FF479A-388D-5D45-F2B5-EE80FD644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BEEE74-39BF-453C-9B95-5D16D1A437F8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88227486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EEDE-DA82-8BE6-CCC4-22A48FC37A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78A24-A8F4-49CD-BD48-7971CB8DAF89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BE157D-7DCA-BE01-48B2-CD21926B7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544D3-1E6E-3EC8-E08D-B33314EEC7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32A164E-8942-4345-8DE7-B1C50E1678E5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88564194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05DC2-67B4-7CB6-A56F-0101D7A9B2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B09292-95D5-42C5-9B28-291F1B88EE41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1502FC-A739-8345-1647-7ABAD8304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9586BD-F94B-7FCA-BA39-41D36C22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FCB40E-EBDD-4410-A871-144E703007FC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6071867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14363" y="1547813"/>
            <a:ext cx="3867150" cy="45926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33913" y="1547813"/>
            <a:ext cx="3867150" cy="459263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7D20F59-17DD-F042-787A-4D8798F567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6F624A-28D0-407D-B545-24069FBD6BC5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F3353F3-509F-8BEA-5D46-773831A4C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26C3129-52AB-C59F-A849-4ED90658D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14D124-1AC0-450E-A13A-A82BA4D6F56F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6442525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17E866EA-B8B0-8033-0521-8D82D312D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8E7610-40FD-4A8F-9319-592F16BF6F4A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EED82A6-8547-A11F-E780-030C04EDF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DC286D1-BB88-09D0-4AE7-14050EA6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0D929-5ED9-4DAA-B060-0085408E2DD8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7334300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6236F13-3EC7-B68D-80C7-4938ED8B4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A7B650-E099-47BD-8420-9CE1C04CEDF6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CA737521-F1A8-231C-0BEE-D02F4E03D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99E8E46-51CE-F696-F435-5F9963287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CF2F4A2-E4C2-4730-8D3F-79810D8853ED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93084580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34D11B-5E8D-D208-E0A4-79DD9FBC2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4AEA9A-F615-40A8-AF7F-C781E56C439E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F285E43-DA65-105C-F07A-244627E44B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F31AEA4-6695-C271-EB05-A486F181D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EED2CBD-7172-4E52-8A90-3569C84EB5FA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10430956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F9B2D-29EC-8814-5028-ED493E5C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9F6E6F-FDB1-4769-8AEB-189BC62757CE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6F66FE0-D1C4-3F49-0447-4F72AA9F4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3EEC9E-C2B4-037A-C51F-45919A583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D12463-A695-442D-B33D-7757CD6A9638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35806892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SG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F64D862-81BE-3A8E-A940-D3EF2E5581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70E418-F811-4B62-8E43-63B5B65D4223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1D183BF-76FE-8859-D76D-5C76E5A43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CB33D9B-0B7C-C593-66B4-072CC6410D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DBE0E1C-DE08-4CA5-BAC8-4F7CB67AB171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164494542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8A3002-56B3-C176-2C4C-D62183540F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AD0596-1FB6-46F6-9A0F-CFCCDD7EB48D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6BDAC0-F8A3-76F4-2B86-262E0AEBD7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0A6316-FF85-A332-BF41-6F2905025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80D85B4-C0C7-4721-9158-C753B3E8EBB3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7154621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0500" y="365125"/>
            <a:ext cx="1974850" cy="57753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14363" y="365125"/>
            <a:ext cx="5773737" cy="57753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EB2CB-4878-DA61-9FF9-D7729CA51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8C59E-1DA5-4D25-9C87-904706695B0F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10413D-2EB6-30D3-E9F7-DC552CC8E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E5C87F-03E7-F4C9-FC0F-65EDE8E2EC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380DF9-311F-421F-B34D-E56FC5EF6574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42173392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5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0.xml"/><Relationship Id="rId7" Type="http://schemas.openxmlformats.org/officeDocument/2006/relationships/slideLayout" Target="../slideLayouts/slideLayout1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6" Type="http://schemas.openxmlformats.org/officeDocument/2006/relationships/slideLayout" Target="../slideLayouts/slideLayout13.xml"/><Relationship Id="rId11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2.xml"/><Relationship Id="rId15" Type="http://schemas.openxmlformats.org/officeDocument/2006/relationships/image" Target="../media/image14.png"/><Relationship Id="rId10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1.xml"/><Relationship Id="rId9" Type="http://schemas.openxmlformats.org/officeDocument/2006/relationships/slideLayout" Target="../slideLayouts/slideLayout16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5" Type="http://schemas.openxmlformats.org/officeDocument/2006/relationships/image" Target="../media/image15.png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">
            <a:extLst>
              <a:ext uri="{FF2B5EF4-FFF2-40B4-BE49-F238E27FC236}">
                <a16:creationId xmlns:a16="http://schemas.microsoft.com/office/drawing/2014/main" id="{F25B23CA-D2B8-8AB9-96E7-7ACAA0296946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2482" r="38847"/>
          <a:stretch>
            <a:fillRect/>
          </a:stretch>
        </p:blipFill>
        <p:spPr bwMode="auto">
          <a:xfrm>
            <a:off x="7716838" y="0"/>
            <a:ext cx="1427162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2897F114-D059-B633-7351-FD77F68CF3B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4363" y="1547813"/>
            <a:ext cx="7886700" cy="459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79F19-22E8-588E-F8C9-25199FE02F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2E14468-1DCF-4788-AF64-2BA1B53F83C7}" type="datetimeFigureOut">
              <a:rPr lang="en-SG"/>
              <a:pPr>
                <a:defRPr/>
              </a:pPr>
              <a:t>13/08/2025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B9901-EB9C-C196-E5E3-32A9B3BFA77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323FEE-9A04-4F5E-F544-998F3FAFDB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919191"/>
                </a:solidFill>
                <a:latin typeface="Calibri" panose="020F0502020204030204" pitchFamily="34" charset="0"/>
              </a:defRPr>
            </a:lvl1pPr>
          </a:lstStyle>
          <a:p>
            <a:fld id="{F4A8A0A6-67F4-488B-A90E-2139044FA1A6}" type="slidenum">
              <a:rPr lang="en-SG" altLang="en-US"/>
              <a:pPr/>
              <a:t>‹#›</a:t>
            </a:fld>
            <a:endParaRPr lang="en-SG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F28184F1-DD44-0DEC-BA7E-87A428111936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2" name="Title 1">
            <a:extLst>
              <a:ext uri="{FF2B5EF4-FFF2-40B4-BE49-F238E27FC236}">
                <a16:creationId xmlns:a16="http://schemas.microsoft.com/office/drawing/2014/main" id="{AA43DDC2-3FFD-48E4-955C-517E1A7B9BC6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87375" y="681038"/>
            <a:ext cx="7886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SG" altLang="en-US" sz="2800" b="1">
              <a:solidFill>
                <a:srgbClr val="AB162B"/>
              </a:solidFill>
              <a:latin typeface="Verdana" panose="020B060403050404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0C00BF6-E361-A9F7-B42A-A61D28551F5A}"/>
              </a:ext>
            </a:extLst>
          </p:cNvPr>
          <p:cNvCxnSpPr/>
          <p:nvPr userDrawn="1"/>
        </p:nvCxnSpPr>
        <p:spPr>
          <a:xfrm>
            <a:off x="587375" y="1316038"/>
            <a:ext cx="7913688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76629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Verdana" pitchFamily="34" charset="0"/>
        </a:defRPr>
      </a:lvl9pPr>
    </p:titleStyle>
    <p:bodyStyle>
      <a:lvl1pPr marL="2286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3B3C3E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6858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3B3C3E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3B3C3E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1">
            <a:extLst>
              <a:ext uri="{FF2B5EF4-FFF2-40B4-BE49-F238E27FC236}">
                <a16:creationId xmlns:a16="http://schemas.microsoft.com/office/drawing/2014/main" id="{966B2137-058E-4C82-C7B1-08FCEE50846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2482" r="38847"/>
          <a:stretch>
            <a:fillRect/>
          </a:stretch>
        </p:blipFill>
        <p:spPr bwMode="auto">
          <a:xfrm>
            <a:off x="7716838" y="0"/>
            <a:ext cx="1427162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9" name="Picture 7">
            <a:extLst>
              <a:ext uri="{FF2B5EF4-FFF2-40B4-BE49-F238E27FC236}">
                <a16:creationId xmlns:a16="http://schemas.microsoft.com/office/drawing/2014/main" id="{61CF094F-6303-B290-9F7B-8D780DA13AA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CDBCF812-20EC-A803-ED6A-F3773EFFE33B}"/>
              </a:ext>
            </a:extLst>
          </p:cNvPr>
          <p:cNvSpPr txBox="1">
            <a:spLocks/>
          </p:cNvSpPr>
          <p:nvPr/>
        </p:nvSpPr>
        <p:spPr>
          <a:xfrm>
            <a:off x="587375" y="681038"/>
            <a:ext cx="7886700" cy="5905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fontAlgn="auto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SG" sz="2800" b="1">
              <a:solidFill>
                <a:srgbClr val="AB162B"/>
              </a:solidFill>
              <a:latin typeface="Verdana" panose="020B0604030504040204" pitchFamily="34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F4A6882-74A5-CA69-1D88-D08221B7D1A2}"/>
              </a:ext>
            </a:extLst>
          </p:cNvPr>
          <p:cNvCxnSpPr/>
          <p:nvPr/>
        </p:nvCxnSpPr>
        <p:spPr>
          <a:xfrm>
            <a:off x="-3175" y="1316038"/>
            <a:ext cx="9147175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02" name="Picture 9">
            <a:extLst>
              <a:ext uri="{FF2B5EF4-FFF2-40B4-BE49-F238E27FC236}">
                <a16:creationId xmlns:a16="http://schemas.microsoft.com/office/drawing/2014/main" id="{1F0D3781-2141-BE9E-D805-9303691D81C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3" name="Picture 13" descr="new logo">
            <a:extLst>
              <a:ext uri="{FF2B5EF4-FFF2-40B4-BE49-F238E27FC236}">
                <a16:creationId xmlns:a16="http://schemas.microsoft.com/office/drawing/2014/main" id="{0DA4BBEB-570C-5201-EADF-0931886681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6256338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4" name="Text Placeholder 2">
            <a:extLst>
              <a:ext uri="{FF2B5EF4-FFF2-40B4-BE49-F238E27FC236}">
                <a16:creationId xmlns:a16="http://schemas.microsoft.com/office/drawing/2014/main" id="{5C0CA9E8-5146-701C-2BBC-A5FA7C80D74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4363" y="1547813"/>
            <a:ext cx="7886700" cy="459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F5A3CAE8-B28F-7520-F3D9-0C356A838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91919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DF0849D3-13EE-8F7E-D177-0DD2F63157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rgbClr val="919191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D1B73D0-2B92-EE76-59BE-0170C15A214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919191"/>
                </a:solidFill>
                <a:latin typeface="+mn-lt"/>
              </a:defRPr>
            </a:lvl1pPr>
          </a:lstStyle>
          <a:p>
            <a:fld id="{4B009A63-CF1A-48BF-931D-1241E9871D63}" type="slidenum">
              <a:rPr lang="en-SG" altLang="en-US"/>
              <a:pPr/>
              <a:t>‹#›</a:t>
            </a:fld>
            <a:endParaRPr lang="en-SG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2286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3B3C3E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3B3C3E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3B3C3E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">
            <a:extLst>
              <a:ext uri="{FF2B5EF4-FFF2-40B4-BE49-F238E27FC236}">
                <a16:creationId xmlns:a16="http://schemas.microsoft.com/office/drawing/2014/main" id="{CC31F7B9-5767-6665-B945-206E14A899C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" t="12482" r="38847"/>
          <a:stretch>
            <a:fillRect/>
          </a:stretch>
        </p:blipFill>
        <p:spPr bwMode="auto">
          <a:xfrm>
            <a:off x="7716838" y="0"/>
            <a:ext cx="1427162" cy="135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1" name="Picture 7">
            <a:extLst>
              <a:ext uri="{FF2B5EF4-FFF2-40B4-BE49-F238E27FC236}">
                <a16:creationId xmlns:a16="http://schemas.microsoft.com/office/drawing/2014/main" id="{E0600CB5-68B9-399F-A2D4-14A93E7AE116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2" name="Title 1">
            <a:extLst>
              <a:ext uri="{FF2B5EF4-FFF2-40B4-BE49-F238E27FC236}">
                <a16:creationId xmlns:a16="http://schemas.microsoft.com/office/drawing/2014/main" id="{88AFBFD5-AE21-A072-55C7-2477E17F2BAA}"/>
              </a:ext>
            </a:extLst>
          </p:cNvPr>
          <p:cNvSpPr txBox="1">
            <a:spLocks/>
          </p:cNvSpPr>
          <p:nvPr userDrawn="1"/>
        </p:nvSpPr>
        <p:spPr bwMode="auto">
          <a:xfrm>
            <a:off x="587375" y="681038"/>
            <a:ext cx="788670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90000"/>
              </a:lnSpc>
            </a:pPr>
            <a:endParaRPr lang="en-SG" altLang="en-US" sz="2800" b="1">
              <a:solidFill>
                <a:srgbClr val="AB162B"/>
              </a:solidFill>
              <a:latin typeface="Verdana" panose="020B0604030504040204" pitchFamily="34" charset="0"/>
            </a:endParaRPr>
          </a:p>
        </p:txBody>
      </p:sp>
      <p:pic>
        <p:nvPicPr>
          <p:cNvPr id="2053" name="Picture 9">
            <a:extLst>
              <a:ext uri="{FF2B5EF4-FFF2-40B4-BE49-F238E27FC236}">
                <a16:creationId xmlns:a16="http://schemas.microsoft.com/office/drawing/2014/main" id="{41CC7F83-3E2B-6A1C-8997-F1E2D96E64D7}"/>
              </a:ext>
            </a:extLst>
          </p:cNvPr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1113" y="6219825"/>
            <a:ext cx="1179512" cy="411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4" name="Picture 13" descr="new logo">
            <a:extLst>
              <a:ext uri="{FF2B5EF4-FFF2-40B4-BE49-F238E27FC236}">
                <a16:creationId xmlns:a16="http://schemas.microsoft.com/office/drawing/2014/main" id="{3E1CEE3E-FCB8-AC40-FB40-7875684D50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938" y="6256338"/>
            <a:ext cx="1285875" cy="34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5" name="Text Placeholder 2">
            <a:extLst>
              <a:ext uri="{FF2B5EF4-FFF2-40B4-BE49-F238E27FC236}">
                <a16:creationId xmlns:a16="http://schemas.microsoft.com/office/drawing/2014/main" id="{96E04EA5-B3E1-6656-461C-190233FBB62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614363" y="1547813"/>
            <a:ext cx="7886700" cy="459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8338CDE4-718A-BE8C-56EA-9F68C433D8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4E9D6487-67AB-4A6E-AEB7-9A66F0A4E5DF}" type="datetimeFigureOut">
              <a:rPr lang="en-SG"/>
              <a:pPr>
                <a:defRPr/>
              </a:pPr>
              <a:t>13/08/2025</a:t>
            </a:fld>
            <a:endParaRPr lang="en-SG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B5029111-5551-E658-F4D9-07B9617850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SG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699E4326-BA70-EB8B-AB60-783977E51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919191"/>
                </a:solidFill>
                <a:latin typeface="Calibri" panose="020F0502020204030204" pitchFamily="34" charset="0"/>
              </a:defRPr>
            </a:lvl1pPr>
          </a:lstStyle>
          <a:p>
            <a:fld id="{39ED1CFB-2180-4A43-AAFB-A993C4EF664E}" type="slidenum">
              <a:rPr lang="en-SG" altLang="en-US"/>
              <a:pPr/>
              <a:t>‹#›</a:t>
            </a:fld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591337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cs typeface="Arial" panose="020B0604020202020204" pitchFamily="34" charset="0"/>
        </a:defRPr>
      </a:lvl9pPr>
    </p:titleStyle>
    <p:bodyStyle>
      <a:lvl1pPr marL="2286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rgbClr val="3B3C3E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rgbClr val="3B3C3E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rgbClr val="3B3C3E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ts val="6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rgbClr val="3B3C3E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A4BD083-7218-6AE9-309C-4F76A07FC3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en-US" sz="2800" dirty="0"/>
              <a:t>L10 Common Emergencies</a:t>
            </a:r>
            <a:endParaRPr lang="en-SG" altLang="en-US" sz="2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A44BB8-D5F8-D370-D0A0-01330BDF15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en-US" sz="1600" dirty="0"/>
              <a:t>Resus Drill</a:t>
            </a:r>
            <a:endParaRPr lang="en-S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6FC798-6A5F-EBE5-4BB4-9AF1D4964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/>
              <a:t>Case Scenario 1</a:t>
            </a:r>
            <a:endParaRPr lang="en-SG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37E52FD-D0BB-BDD4-19F1-F7346B277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4736"/>
            <a:ext cx="9144000" cy="514852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4D6FC798-6A5F-EBE5-4BB4-9AF1D49640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/>
              <a:t>Case Scenario 1</a:t>
            </a:r>
            <a:endParaRPr lang="en-SG" altLang="en-US"/>
          </a:p>
        </p:txBody>
      </p:sp>
    </p:spTree>
    <p:extLst>
      <p:ext uri="{BB962C8B-B14F-4D97-AF65-F5344CB8AC3E}">
        <p14:creationId xmlns:p14="http://schemas.microsoft.com/office/powerpoint/2010/main" val="2029507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3C067DB-682E-8F4E-CCB2-EB203B064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1</a:t>
            </a:r>
            <a:endParaRPr lang="en-SG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4D8DA81-55EF-161F-C25C-D58E62E05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SG" altLang="en-US" sz="2000" dirty="0"/>
              <a:t>Ms Lim, 80 years old, Female Chinese, is admitted from ED around 2pm for </a:t>
            </a:r>
            <a:r>
              <a:rPr lang="en-US" altLang="en-US" sz="2000" dirty="0"/>
              <a:t>GE and giddiness for investigation. Not clerked by team doctors yet.</a:t>
            </a:r>
          </a:p>
          <a:p>
            <a:r>
              <a:rPr lang="en-SG" altLang="en-US" sz="2000" dirty="0"/>
              <a:t>Upon arrival, she became restless and confused. She also appears diaphoretic ++. </a:t>
            </a:r>
          </a:p>
          <a:p>
            <a:r>
              <a:rPr lang="en-SG" altLang="en-US" sz="2000" dirty="0"/>
              <a:t>Chief complains – </a:t>
            </a:r>
          </a:p>
          <a:p>
            <a:pPr lvl="1"/>
            <a:r>
              <a:rPr lang="en-SG" altLang="en-US" sz="1600" dirty="0"/>
              <a:t>diarrhoea 5x since yesterday, vomiting 2x undigested food</a:t>
            </a:r>
          </a:p>
          <a:p>
            <a:pPr lvl="1"/>
            <a:r>
              <a:rPr lang="en-SG" altLang="en-US" sz="1600" dirty="0"/>
              <a:t>Giddy x 1day</a:t>
            </a:r>
          </a:p>
          <a:p>
            <a:pPr lvl="1"/>
            <a:r>
              <a:rPr lang="en-SG" altLang="en-US" sz="1600" dirty="0"/>
              <a:t>No fever</a:t>
            </a:r>
          </a:p>
          <a:p>
            <a:pPr lvl="1"/>
            <a:r>
              <a:rPr lang="en-SG" altLang="en-US" sz="1600" dirty="0"/>
              <a:t>Vitals in ED (10am) – BP 100/65mmhg, HR 110/min, RR 25/min, Sp02 95% RA</a:t>
            </a:r>
          </a:p>
          <a:p>
            <a:pPr lvl="1"/>
            <a:r>
              <a:rPr lang="en-SG" altLang="en-US" sz="1600" dirty="0"/>
              <a:t>HC taken in ED – 4.0</a:t>
            </a:r>
          </a:p>
          <a:p>
            <a:pPr lvl="1"/>
            <a:r>
              <a:rPr lang="en-SG" altLang="en-US" sz="1600" dirty="0"/>
              <a:t>GCS 14, E4V4M6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63C067DB-682E-8F4E-CCB2-EB203B064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1</a:t>
            </a:r>
            <a:endParaRPr lang="en-SG" altLang="en-US" dirty="0"/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C4D8DA81-55EF-161F-C25C-D58E62E05C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000" dirty="0"/>
              <a:t>PMH - DM Type 2, Dementia, Hypertension, Left CVA since 2018</a:t>
            </a:r>
          </a:p>
          <a:p>
            <a:r>
              <a:rPr lang="en-US" altLang="en-US" sz="2000" dirty="0"/>
              <a:t>Medication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-</a:t>
            </a:r>
            <a:r>
              <a:rPr lang="en-US" altLang="en-US" sz="2000" dirty="0">
                <a:solidFill>
                  <a:schemeClr val="hlink"/>
                </a:solidFill>
              </a:rPr>
              <a:t> </a:t>
            </a:r>
            <a:r>
              <a:rPr lang="en-SG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SC </a:t>
            </a:r>
            <a:r>
              <a:rPr lang="en-SG" altLang="ja-JP" sz="20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Actrapid</a:t>
            </a:r>
            <a:r>
              <a:rPr lang="en-SG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4 units </a:t>
            </a:r>
            <a:r>
              <a:rPr lang="en-SG" altLang="ja-JP" sz="2000" dirty="0" err="1">
                <a:solidFill>
                  <a:schemeClr val="tx1"/>
                </a:solidFill>
                <a:ea typeface="ＭＳ Ｐゴシック" panose="020B0600070205080204" pitchFamily="34" charset="-128"/>
              </a:rPr>
              <a:t>tds</a:t>
            </a:r>
            <a:r>
              <a:rPr lang="en-SG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 (premeal) 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SG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- Atenolol 100mg om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SG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- Plavix 75mg om</a:t>
            </a:r>
          </a:p>
          <a:p>
            <a:pPr lvl="1">
              <a:buFont typeface="Arial" panose="020B0604020202020204" pitchFamily="34" charset="0"/>
              <a:buNone/>
            </a:pPr>
            <a:r>
              <a:rPr lang="en-US" altLang="ja-JP" sz="2000" dirty="0">
                <a:solidFill>
                  <a:schemeClr val="tx1"/>
                </a:solidFill>
                <a:ea typeface="ＭＳ Ｐゴシック" panose="020B0600070205080204" pitchFamily="34" charset="-128"/>
              </a:rPr>
              <a:t>- NKDA</a:t>
            </a:r>
          </a:p>
        </p:txBody>
      </p:sp>
    </p:spTree>
    <p:extLst>
      <p:ext uri="{BB962C8B-B14F-4D97-AF65-F5344CB8AC3E}">
        <p14:creationId xmlns:p14="http://schemas.microsoft.com/office/powerpoint/2010/main" val="27583123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E88A5721-0D08-977D-F419-4C026B1C83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547813"/>
            <a:ext cx="8424863" cy="4592637"/>
          </a:xfrm>
        </p:spPr>
        <p:txBody>
          <a:bodyPr/>
          <a:lstStyle/>
          <a:p>
            <a:r>
              <a:rPr lang="en-SG" altLang="ja-JP" sz="2000" dirty="0">
                <a:ea typeface="ＭＳ Ｐゴシック" panose="020B0600070205080204" pitchFamily="34" charset="-128"/>
              </a:rPr>
              <a:t>You are the SN on duty</a:t>
            </a:r>
          </a:p>
          <a:p>
            <a:r>
              <a:rPr lang="en-SG" altLang="en-US" sz="2000" dirty="0"/>
              <a:t>Her daughter (main carer) called you to attend to the patient.</a:t>
            </a:r>
          </a:p>
          <a:p>
            <a:r>
              <a:rPr lang="en-SG" altLang="en-US" sz="2000" dirty="0"/>
              <a:t>Upon questioning, daughter said pt. only had milk for breakfast (injected SC </a:t>
            </a:r>
            <a:r>
              <a:rPr lang="en-SG" altLang="en-US" sz="2000" dirty="0" err="1"/>
              <a:t>Actrapid</a:t>
            </a:r>
            <a:r>
              <a:rPr lang="en-SG" altLang="en-US" sz="2000" dirty="0"/>
              <a:t> 4u prior to breakfast) but still vomited with diarrhoea 1x before decided to bring her to the hospital</a:t>
            </a:r>
          </a:p>
          <a:p>
            <a:r>
              <a:rPr lang="en-SG" altLang="en-US" sz="2000" dirty="0"/>
              <a:t>She have not taken lunch as she has been waiting in the ED since 10am.</a:t>
            </a:r>
          </a:p>
          <a:p>
            <a:r>
              <a:rPr lang="en-SG" altLang="en-US" sz="2000" dirty="0"/>
              <a:t>Patient is on IV D/Saline upon arrival from ED, however IV Cannula site is leaking</a:t>
            </a:r>
            <a:endParaRPr lang="en-US" altLang="en-US" sz="2000" dirty="0"/>
          </a:p>
          <a:p>
            <a:r>
              <a:rPr lang="en-US" altLang="en-US" sz="2000" dirty="0"/>
              <a:t>Please attend to the patient</a:t>
            </a:r>
            <a:r>
              <a:rPr lang="en-SG" altLang="en-US" sz="2000" dirty="0"/>
              <a:t> (shoutout the nursing plans/management)</a:t>
            </a:r>
            <a:endParaRPr lang="en-US" altLang="en-US" sz="2000" dirty="0"/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53124217-32CF-34E7-F011-3A026B248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1</a:t>
            </a:r>
            <a:endParaRPr lang="en-SG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>
            <a:extLst>
              <a:ext uri="{FF2B5EF4-FFF2-40B4-BE49-F238E27FC236}">
                <a16:creationId xmlns:a16="http://schemas.microsoft.com/office/drawing/2014/main" id="{0A6D3A9B-D213-3FBA-A9C0-92DCF1418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1 – Recheck HC</a:t>
            </a:r>
            <a:endParaRPr lang="en-SG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52D7A-EDB5-8B32-3E94-A0AA5AF3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Bedside HC – 3.0</a:t>
            </a:r>
          </a:p>
          <a:p>
            <a:r>
              <a:rPr lang="en-US" dirty="0"/>
              <a:t>Patient alert but confused ++, restless </a:t>
            </a:r>
            <a:r>
              <a:rPr lang="en-US"/>
              <a:t>and agitated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13472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2" name="Rectangle 4">
            <a:extLst>
              <a:ext uri="{FF2B5EF4-FFF2-40B4-BE49-F238E27FC236}">
                <a16:creationId xmlns:a16="http://schemas.microsoft.com/office/drawing/2014/main" id="{0A6D3A9B-D213-3FBA-A9C0-92DCF14181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1 - Meds Order </a:t>
            </a:r>
            <a:endParaRPr lang="en-SG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852D7A-EDB5-8B32-3E94-A0AA5AF35C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Glucose 15g Oral Powder stat</a:t>
            </a:r>
            <a:endParaRPr lang="en-SG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38C44452-DD84-0B91-AF2D-32BFBB2DF9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/>
            <a:r>
              <a:rPr lang="en-US" altLang="en-US" dirty="0"/>
              <a:t>Case Scenario 2</a:t>
            </a:r>
            <a:endParaRPr lang="en-SG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AFFA77BA-8238-9AA6-E438-D5B1AF85C3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2</a:t>
            </a:r>
            <a:endParaRPr lang="en-SG" altLang="en-US" dirty="0"/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6AA0A1AB-669D-5564-CF43-C2DD997EA1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363" y="1547813"/>
            <a:ext cx="7886700" cy="4833515"/>
          </a:xfrm>
        </p:spPr>
        <p:txBody>
          <a:bodyPr/>
          <a:lstStyle/>
          <a:p>
            <a:r>
              <a:rPr lang="en-US" altLang="en-US" sz="2000" dirty="0"/>
              <a:t>Mr Lee, 58 </a:t>
            </a:r>
            <a:r>
              <a:rPr lang="en-US" altLang="en-US" sz="2000" dirty="0" err="1"/>
              <a:t>yrs</a:t>
            </a:r>
            <a:r>
              <a:rPr lang="en-US" altLang="en-US" sz="2000" dirty="0"/>
              <a:t> old, Male Chinese, DOA – 1 day ago</a:t>
            </a:r>
          </a:p>
          <a:p>
            <a:r>
              <a:rPr lang="en-US" altLang="en-US" sz="2000" dirty="0"/>
              <a:t>Diagnosis: TIA, on PAF monitoring</a:t>
            </a:r>
            <a:endParaRPr lang="en-US" altLang="en-US" sz="1600" dirty="0"/>
          </a:p>
          <a:p>
            <a:r>
              <a:rPr lang="en-US" altLang="en-US" sz="2000" dirty="0"/>
              <a:t>PMH – IHD with CABG done 2017 and COPD (15yrs)</a:t>
            </a:r>
          </a:p>
          <a:p>
            <a:r>
              <a:rPr lang="en-US" altLang="en-US" sz="2000" dirty="0"/>
              <a:t>Social </a:t>
            </a:r>
            <a:r>
              <a:rPr lang="en-US" altLang="en-US" sz="2000" dirty="0" err="1"/>
              <a:t>Hx</a:t>
            </a:r>
            <a:r>
              <a:rPr lang="en-US" altLang="en-US" sz="2000" dirty="0"/>
              <a:t> - Ex-smoker (stopped 2yrs ago)</a:t>
            </a:r>
          </a:p>
          <a:p>
            <a:r>
              <a:rPr lang="en-US" altLang="en-US" sz="2000" dirty="0"/>
              <a:t>Medication – </a:t>
            </a:r>
          </a:p>
          <a:p>
            <a:pPr marL="457200" lvl="1" indent="0">
              <a:buNone/>
            </a:pPr>
            <a:r>
              <a:rPr lang="en-US" altLang="en-US" sz="1800" dirty="0"/>
              <a:t>S/L GTN 1 tab prn</a:t>
            </a:r>
          </a:p>
          <a:p>
            <a:pPr marL="457200" lvl="1" indent="0">
              <a:buNone/>
            </a:pPr>
            <a:r>
              <a:rPr lang="en-US" altLang="en-US" sz="1800" dirty="0"/>
              <a:t>Aspirin 100mg om</a:t>
            </a:r>
          </a:p>
          <a:p>
            <a:pPr marL="457200" lvl="1" indent="0">
              <a:buNone/>
            </a:pPr>
            <a:r>
              <a:rPr lang="en-US" altLang="en-US" sz="1800" dirty="0"/>
              <a:t>Bisoprolol 10mg om</a:t>
            </a:r>
          </a:p>
          <a:p>
            <a:pPr marL="457200" lvl="1" indent="0">
              <a:buNone/>
            </a:pPr>
            <a:r>
              <a:rPr lang="en-US" altLang="en-US" sz="1800" dirty="0"/>
              <a:t>Amlodipine 10mg om</a:t>
            </a:r>
          </a:p>
          <a:p>
            <a:pPr marL="457200" lvl="1" indent="0">
              <a:buNone/>
            </a:pPr>
            <a:r>
              <a:rPr lang="en-US" altLang="en-US" sz="1800" dirty="0"/>
              <a:t>Prednisolone 30mg om</a:t>
            </a:r>
          </a:p>
          <a:p>
            <a:r>
              <a:rPr lang="en-US" altLang="en-US" sz="2000" dirty="0"/>
              <a:t>NKDA</a:t>
            </a:r>
          </a:p>
          <a:p>
            <a:r>
              <a:rPr lang="en-US" altLang="en-US" sz="2000" dirty="0"/>
              <a:t>Patient is planned for 2D echo appointment this pm.</a:t>
            </a:r>
          </a:p>
          <a:p>
            <a:pPr lvl="1">
              <a:buFont typeface="Arial" panose="020B0604020202020204" pitchFamily="34" charset="0"/>
              <a:buNone/>
            </a:pPr>
            <a:endParaRPr lang="en-SG" alt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>
            <a:extLst>
              <a:ext uri="{FF2B5EF4-FFF2-40B4-BE49-F238E27FC236}">
                <a16:creationId xmlns:a16="http://schemas.microsoft.com/office/drawing/2014/main" id="{3A42494D-C4BF-4DEF-9041-8C05A92034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sz="2400" dirty="0"/>
              <a:t>Appears lethargic looking and pale</a:t>
            </a:r>
          </a:p>
          <a:p>
            <a:r>
              <a:rPr lang="en-US" altLang="en-US" sz="2400" dirty="0"/>
              <a:t>Complain chest discomfort</a:t>
            </a:r>
            <a:endParaRPr lang="en-SG" altLang="en-US" sz="2400" dirty="0"/>
          </a:p>
          <a:p>
            <a:r>
              <a:rPr lang="en-US" altLang="en-US" sz="2400" dirty="0"/>
              <a:t>Parameters taken prior to transportation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SG" altLang="en-US" sz="2000" dirty="0"/>
              <a:t>BP: 101/70mmHg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SG" altLang="en-US" sz="2000" dirty="0"/>
              <a:t>PR: 130 b/min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SG" altLang="en-US" sz="2000" dirty="0"/>
              <a:t>RR: 34 b/min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SG" altLang="en-US" sz="2000" dirty="0"/>
              <a:t>SpO2: 89% on room air</a:t>
            </a:r>
          </a:p>
          <a:p>
            <a:pPr lvl="1">
              <a:buFont typeface="Arial" panose="020B0604020202020204" pitchFamily="34" charset="0"/>
              <a:buChar char="-"/>
            </a:pPr>
            <a:r>
              <a:rPr lang="en-SG" altLang="en-US" sz="2000" dirty="0"/>
              <a:t>GCS: E4V5M6</a:t>
            </a:r>
            <a:endParaRPr lang="en-US" altLang="en-US" sz="2000" dirty="0"/>
          </a:p>
          <a:p>
            <a:pPr marL="457200" lvl="1" indent="0">
              <a:buNone/>
            </a:pPr>
            <a:endParaRPr lang="en-SG" altLang="en-US" dirty="0"/>
          </a:p>
        </p:txBody>
      </p:sp>
      <p:sp>
        <p:nvSpPr>
          <p:cNvPr id="23556" name="Rectangle 4">
            <a:extLst>
              <a:ext uri="{FF2B5EF4-FFF2-40B4-BE49-F238E27FC236}">
                <a16:creationId xmlns:a16="http://schemas.microsoft.com/office/drawing/2014/main" id="{CA9EBD7B-B74D-8769-CC2F-7EA7F72276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2</a:t>
            </a:r>
            <a:endParaRPr lang="en-SG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9B64F5D3-736F-E79E-0C11-2E03A4F051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23850" y="1547813"/>
            <a:ext cx="8424863" cy="4592637"/>
          </a:xfrm>
        </p:spPr>
        <p:txBody>
          <a:bodyPr/>
          <a:lstStyle/>
          <a:p>
            <a:r>
              <a:rPr lang="en-SG" altLang="ja-JP" dirty="0">
                <a:ea typeface="ＭＳ Ｐゴシック" panose="020B0600070205080204" pitchFamily="34" charset="-128"/>
              </a:rPr>
              <a:t>You are the SN in charge of patient</a:t>
            </a:r>
          </a:p>
          <a:p>
            <a:r>
              <a:rPr lang="en-US" altLang="en-US" dirty="0"/>
              <a:t>Please attend to the patient</a:t>
            </a:r>
            <a:endParaRPr lang="en-SG" altLang="en-US" dirty="0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CF905B3-69E3-FE41-1B84-4D102370F7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706437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dirty="0"/>
              <a:t>Case Scenario 2</a:t>
            </a:r>
            <a:endParaRPr lang="en-SG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2" name="Rectangle 4">
            <a:extLst>
              <a:ext uri="{FF2B5EF4-FFF2-40B4-BE49-F238E27FC236}">
                <a16:creationId xmlns:a16="http://schemas.microsoft.com/office/drawing/2014/main" id="{4A2040FD-CADC-64C7-5B56-430DFA0C2F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Case Scenario 2 - Meds Order </a:t>
            </a:r>
            <a:endParaRPr lang="en-SG" alt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75E408B-A91A-CD48-FED2-72FB6D377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>
                <a:effectLst/>
                <a:ea typeface="MS Mincho" panose="02020609040205080304" pitchFamily="49" charset="-128"/>
                <a:cs typeface="Arial" panose="020B0604020202020204" pitchFamily="34" charset="0"/>
              </a:rPr>
              <a:t>S/L GTN 1 tab prn</a:t>
            </a:r>
          </a:p>
          <a:p>
            <a:r>
              <a:rPr lang="en-US" sz="2800" dirty="0"/>
              <a:t>Salbutamol : Ipratropium Br : Sodium Chloride </a:t>
            </a:r>
            <a:r>
              <a:rPr lang="en-US" sz="2800" dirty="0">
                <a:solidFill>
                  <a:srgbClr val="FF0000"/>
                </a:solidFill>
              </a:rPr>
              <a:t>stat</a:t>
            </a:r>
          </a:p>
          <a:p>
            <a:pPr marL="457200" lvl="1" indent="0">
              <a:buNone/>
            </a:pPr>
            <a:r>
              <a:rPr lang="en-SG" dirty="0">
                <a:ea typeface="MS Mincho" panose="02020609040205080304" pitchFamily="49" charset="-128"/>
                <a:cs typeface="Arial" panose="020B0604020202020204" pitchFamily="34" charset="0"/>
              </a:rPr>
              <a:t>  </a:t>
            </a:r>
            <a:r>
              <a:rPr lang="en-US" dirty="0"/>
              <a:t> Salbutamol 0.5% Neb Solution 1mL</a:t>
            </a:r>
          </a:p>
          <a:p>
            <a:pPr marL="457200" lvl="1" indent="0">
              <a:buNone/>
            </a:pPr>
            <a:r>
              <a:rPr lang="en-US" dirty="0"/>
              <a:t>+ Ipratropium Br 0.5mg/2mL Nebule 2mL</a:t>
            </a:r>
          </a:p>
          <a:p>
            <a:pPr marL="457200" lvl="1" indent="0">
              <a:buNone/>
            </a:pPr>
            <a:r>
              <a:rPr lang="en-US" dirty="0"/>
              <a:t>+ Sodium Chloride 0.9% </a:t>
            </a:r>
            <a:r>
              <a:rPr lang="en-US" dirty="0" err="1"/>
              <a:t>Inj</a:t>
            </a:r>
            <a:r>
              <a:rPr lang="en-US" dirty="0"/>
              <a:t> 1mL</a:t>
            </a:r>
            <a:endParaRPr lang="en-SG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DBCD9D-2FA4-BDA9-E604-D71CAD8C74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850" b="4719"/>
          <a:stretch/>
        </p:blipFill>
        <p:spPr>
          <a:xfrm>
            <a:off x="457200" y="1340768"/>
            <a:ext cx="7848872" cy="5001733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7AE77E5-8A62-9778-AD0C-E0976DBC34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74638"/>
            <a:ext cx="8229600" cy="706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eaLnBrk="0" hangingPunct="0">
              <a:lnSpc>
                <a:spcPct val="90000"/>
              </a:lnSpc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4572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9144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13716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182880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r>
              <a:rPr lang="en-US" altLang="en-US" dirty="0"/>
              <a:t>Case Scenario 2 - ECG</a:t>
            </a:r>
            <a:endParaRPr lang="en-SG" altLang="en-US" dirty="0"/>
          </a:p>
        </p:txBody>
      </p:sp>
    </p:spTree>
    <p:extLst>
      <p:ext uri="{BB962C8B-B14F-4D97-AF65-F5344CB8AC3E}">
        <p14:creationId xmlns:p14="http://schemas.microsoft.com/office/powerpoint/2010/main" val="223498818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TTSH Corporate Theme">
      <a:dk1>
        <a:srgbClr val="3A3C3D"/>
      </a:dk1>
      <a:lt1>
        <a:srgbClr val="FFFFFF"/>
      </a:lt1>
      <a:dk2>
        <a:srgbClr val="AEABAB"/>
      </a:dk2>
      <a:lt2>
        <a:srgbClr val="FFFFFF"/>
      </a:lt2>
      <a:accent1>
        <a:srgbClr val="A6192E"/>
      </a:accent1>
      <a:accent2>
        <a:srgbClr val="B84758"/>
      </a:accent2>
      <a:accent3>
        <a:srgbClr val="75787B"/>
      </a:accent3>
      <a:accent4>
        <a:srgbClr val="ACAEB0"/>
      </a:accent4>
      <a:accent5>
        <a:srgbClr val="94795D"/>
      </a:accent5>
      <a:accent6>
        <a:srgbClr val="A9947D"/>
      </a:accent6>
      <a:hlink>
        <a:srgbClr val="0563C1"/>
      </a:hlink>
      <a:folHlink>
        <a:srgbClr val="954F72"/>
      </a:folHlink>
    </a:clrScheme>
    <a:fontScheme name="TTSH Corporat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>
            <a:latin typeface="+mn-lt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D3C3C810-504C-4482-B9C7-C9A8AFBB7461}" vid="{3FBE2835-953F-48FD-BA4F-211309EE2BBD}"/>
    </a:ext>
  </a:extLst>
</a:theme>
</file>

<file path=ppt/theme/theme2.xml><?xml version="1.0" encoding="utf-8"?>
<a:theme xmlns:a="http://schemas.openxmlformats.org/drawingml/2006/main" name="1_2016TTSH">
  <a:themeElements>
    <a:clrScheme name="1_2016TTSH 1">
      <a:dk1>
        <a:srgbClr val="3A3C3D"/>
      </a:dk1>
      <a:lt1>
        <a:srgbClr val="FFFFFF"/>
      </a:lt1>
      <a:dk2>
        <a:srgbClr val="AEABAB"/>
      </a:dk2>
      <a:lt2>
        <a:srgbClr val="FFFFFF"/>
      </a:lt2>
      <a:accent1>
        <a:srgbClr val="A6192E"/>
      </a:accent1>
      <a:accent2>
        <a:srgbClr val="B84758"/>
      </a:accent2>
      <a:accent3>
        <a:srgbClr val="FFFFFF"/>
      </a:accent3>
      <a:accent4>
        <a:srgbClr val="303233"/>
      </a:accent4>
      <a:accent5>
        <a:srgbClr val="D0ABAD"/>
      </a:accent5>
      <a:accent6>
        <a:srgbClr val="A63F4F"/>
      </a:accent6>
      <a:hlink>
        <a:srgbClr val="0563C1"/>
      </a:hlink>
      <a:folHlink>
        <a:srgbClr val="954F72"/>
      </a:folHlink>
    </a:clrScheme>
    <a:fontScheme name="1_2016TTSH">
      <a:majorFont>
        <a:latin typeface="Calibri"/>
        <a:ea typeface=""/>
        <a:cs typeface=""/>
      </a:majorFont>
      <a:minorFont>
        <a:latin typeface="Calibri"/>
        <a:ea typeface="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2016TTSH 1">
        <a:dk1>
          <a:srgbClr val="3A3C3D"/>
        </a:dk1>
        <a:lt1>
          <a:srgbClr val="FFFFFF"/>
        </a:lt1>
        <a:dk2>
          <a:srgbClr val="AEABAB"/>
        </a:dk2>
        <a:lt2>
          <a:srgbClr val="FFFFFF"/>
        </a:lt2>
        <a:accent1>
          <a:srgbClr val="A6192E"/>
        </a:accent1>
        <a:accent2>
          <a:srgbClr val="B84758"/>
        </a:accent2>
        <a:accent3>
          <a:srgbClr val="FFFFFF"/>
        </a:accent3>
        <a:accent4>
          <a:srgbClr val="303233"/>
        </a:accent4>
        <a:accent5>
          <a:srgbClr val="D0ABAD"/>
        </a:accent5>
        <a:accent6>
          <a:srgbClr val="A63F4F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1_Office Theme 1">
      <a:dk1>
        <a:srgbClr val="3A3C3D"/>
      </a:dk1>
      <a:lt1>
        <a:srgbClr val="FFFFFF"/>
      </a:lt1>
      <a:dk2>
        <a:srgbClr val="AEABAB"/>
      </a:dk2>
      <a:lt2>
        <a:srgbClr val="FFFFFF"/>
      </a:lt2>
      <a:accent1>
        <a:srgbClr val="A6192E"/>
      </a:accent1>
      <a:accent2>
        <a:srgbClr val="B84758"/>
      </a:accent2>
      <a:accent3>
        <a:srgbClr val="FFFFFF"/>
      </a:accent3>
      <a:accent4>
        <a:srgbClr val="303233"/>
      </a:accent4>
      <a:accent5>
        <a:srgbClr val="D0ABAD"/>
      </a:accent5>
      <a:accent6>
        <a:srgbClr val="A63F4F"/>
      </a:accent6>
      <a:hlink>
        <a:srgbClr val="0563C1"/>
      </a:hlink>
      <a:folHlink>
        <a:srgbClr val="954F72"/>
      </a:folHlink>
    </a:clrScheme>
    <a:fontScheme name="1_Office Theme">
      <a:majorFont>
        <a:latin typeface="Calibri"/>
        <a:ea typeface=""/>
        <a:cs typeface="Arial"/>
      </a:majorFont>
      <a:minorFont>
        <a:latin typeface="Calibri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1_Office Theme 1">
        <a:dk1>
          <a:srgbClr val="3A3C3D"/>
        </a:dk1>
        <a:lt1>
          <a:srgbClr val="FFFFFF"/>
        </a:lt1>
        <a:dk2>
          <a:srgbClr val="AEABAB"/>
        </a:dk2>
        <a:lt2>
          <a:srgbClr val="FFFFFF"/>
        </a:lt2>
        <a:accent1>
          <a:srgbClr val="A6192E"/>
        </a:accent1>
        <a:accent2>
          <a:srgbClr val="B84758"/>
        </a:accent2>
        <a:accent3>
          <a:srgbClr val="FFFFFF"/>
        </a:accent3>
        <a:accent4>
          <a:srgbClr val="303233"/>
        </a:accent4>
        <a:accent5>
          <a:srgbClr val="D0ABAD"/>
        </a:accent5>
        <a:accent6>
          <a:srgbClr val="A63F4F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41C5D5196DC64F9F5DA561959D11F0" ma:contentTypeVersion="13" ma:contentTypeDescription="Create a new document." ma:contentTypeScope="" ma:versionID="89c99d253e951e2df9d6e45defa04037">
  <xsd:schema xmlns:xsd="http://www.w3.org/2001/XMLSchema" xmlns:xs="http://www.w3.org/2001/XMLSchema" xmlns:p="http://schemas.microsoft.com/office/2006/metadata/properties" xmlns:ns2="c6b3913b-7b70-4ef9-b46a-b01707a836cd" xmlns:ns3="d7a5e4b0-40f0-4430-aeb5-67fb5c31cb40" targetNamespace="http://schemas.microsoft.com/office/2006/metadata/properties" ma:root="true" ma:fieldsID="5833fa36b72310f685b7f7f9f02a38fb" ns2:_="" ns3:_="">
    <xsd:import namespace="c6b3913b-7b70-4ef9-b46a-b01707a836cd"/>
    <xsd:import namespace="d7a5e4b0-40f0-4430-aeb5-67fb5c31cb4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6b3913b-7b70-4ef9-b46a-b01707a836c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abfb6660-b9af-4ec2-a833-14c7ed8b710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7a5e4b0-40f0-4430-aeb5-67fb5c31cb40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7" nillable="true" ma:displayName="Taxonomy Catch All Column" ma:hidden="true" ma:list="{318531b1-6175-4f93-a11a-549c8d8bb441}" ma:internalName="TaxCatchAll" ma:showField="CatchAllData" ma:web="d7a5e4b0-40f0-4430-aeb5-67fb5c31cb4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53E61B8-6F22-46B6-B997-8F49B78D1FD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B32FF92-BB4C-4672-890A-D86FE197719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6b3913b-7b70-4ef9-b46a-b01707a836cd"/>
    <ds:schemaRef ds:uri="d7a5e4b0-40f0-4430-aeb5-67fb5c31cb4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869</TotalTime>
  <Words>466</Words>
  <Application>Microsoft Office PowerPoint</Application>
  <PresentationFormat>On-screen Show (4:3)</PresentationFormat>
  <Paragraphs>66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MS Mincho</vt:lpstr>
      <vt:lpstr>ＭＳ Ｐゴシック</vt:lpstr>
      <vt:lpstr>Arial</vt:lpstr>
      <vt:lpstr>Calibri</vt:lpstr>
      <vt:lpstr>Verdana</vt:lpstr>
      <vt:lpstr>Wingdings</vt:lpstr>
      <vt:lpstr>1_Office Theme</vt:lpstr>
      <vt:lpstr>1_2016TTSH</vt:lpstr>
      <vt:lpstr>2_Office Theme</vt:lpstr>
      <vt:lpstr>L10 Common Emergencies</vt:lpstr>
      <vt:lpstr>Case Scenario 1</vt:lpstr>
      <vt:lpstr>Case Scenario 1</vt:lpstr>
      <vt:lpstr>Case Scenario 1</vt:lpstr>
      <vt:lpstr>Case Scenario 1</vt:lpstr>
      <vt:lpstr>Case Scenario 1</vt:lpstr>
      <vt:lpstr>Case Scenario 1 – Recheck HC</vt:lpstr>
      <vt:lpstr>Case Scenario 1 - Meds Order </vt:lpstr>
      <vt:lpstr>Case Scenario 2</vt:lpstr>
      <vt:lpstr>Case Scenario 2</vt:lpstr>
      <vt:lpstr>Case Scenario 2</vt:lpstr>
      <vt:lpstr>Case Scenario 2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Simulation Training for WIHC Nurses</dc:title>
  <dc:creator>leongjanmui</dc:creator>
  <cp:lastModifiedBy>Koh Shiting (TTSH)</cp:lastModifiedBy>
  <cp:revision>68</cp:revision>
  <dcterms:created xsi:type="dcterms:W3CDTF">2017-01-12T01:21:57Z</dcterms:created>
  <dcterms:modified xsi:type="dcterms:W3CDTF">2025-08-13T06:03:12Z</dcterms:modified>
</cp:coreProperties>
</file>